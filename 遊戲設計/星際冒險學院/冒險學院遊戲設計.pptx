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開場：介紹星際冒險學院，一套把每日學習變成太空冒險的遊戲化系統。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說明設計理念：把訂正、練習、生活好習慣包裝成冒險任務，讓學生每天主動登入。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學生登入後的主畫面：簽到、每日任務、寵物都在這裡。強調拍照上傳當作任務證明。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寵物是黏著度核心：蛋到傳說四階段進化，要餵食互動，猜拳小遊戲可以賺金幣。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多 Boss 星圖：每隻 Boss 對應一個科目，答錯進補救輪，打到滿分為止。老師決定 Boss 與題庫。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老師端：Google 帳號登入、班級與 Boss 題庫管理、週任務追蹤色塊表、CSV 匯出。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家長端免帳號：輸入班級＋學號即可看唯讀成長報告，含本週任務色塊與歷輪成績趨勢。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收尾：目前是可互動原型，正式上線需要後端與 Google OAuth。歡迎試玩單機版。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A2060">
                  <a:alpha val="100000"/>
                </a:srgbClr>
              </a:gs>
              <a:gs pos="55000">
                <a:srgbClr val="141034">
                  <a:alpha val="100000"/>
                </a:srgbClr>
              </a:gs>
              <a:gs pos="100000">
                <a:srgbClr val="0E0A26">
                  <a:alpha val="100000"/>
                </a:srgbClr>
              </a:gs>
            </a:gsLst>
            <a:path path="circle">
              <a:fillToRect l="30000" t="20000" r="70000" b="8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2095500" y="1143000"/>
            <a:ext cx="57150" cy="57150"/>
          </a:xfrm>
          <a:prstGeom prst="ellipse">
            <a:avLst/>
          </a:prstGeom>
          <a:solidFill>
            <a:srgbClr val="7DE8FF"/>
          </a:solidFill>
          <a:ln/>
        </p:spPr>
      </p:sp>
      <p:sp>
        <p:nvSpPr>
          <p:cNvPr id="4" name="Shape 2"/>
          <p:cNvSpPr/>
          <p:nvPr/>
        </p:nvSpPr>
        <p:spPr>
          <a:xfrm>
            <a:off x="15382875" y="1905000"/>
            <a:ext cx="47625" cy="47625"/>
          </a:xfrm>
          <a:prstGeom prst="ellipse">
            <a:avLst/>
          </a:prstGeom>
          <a:solidFill>
            <a:srgbClr val="FFD45E"/>
          </a:solidFill>
          <a:ln/>
        </p:spPr>
      </p:sp>
      <p:sp>
        <p:nvSpPr>
          <p:cNvPr id="5" name="Shape 3"/>
          <p:cNvSpPr/>
          <p:nvPr/>
        </p:nvSpPr>
        <p:spPr>
          <a:xfrm>
            <a:off x="3619500" y="8524875"/>
            <a:ext cx="47625" cy="47625"/>
          </a:xfrm>
          <a:prstGeom prst="ellipse">
            <a:avLst/>
          </a:prstGeom>
          <a:solidFill>
            <a:srgbClr val="FF9AC0"/>
          </a:solidFill>
          <a:ln/>
        </p:spPr>
      </p:sp>
      <p:sp>
        <p:nvSpPr>
          <p:cNvPr id="6" name="Shape 4"/>
          <p:cNvSpPr/>
          <p:nvPr/>
        </p:nvSpPr>
        <p:spPr>
          <a:xfrm>
            <a:off x="16135350" y="7753350"/>
            <a:ext cx="57150" cy="57150"/>
          </a:xfrm>
          <a:prstGeom prst="ellipse">
            <a:avLst/>
          </a:prstGeom>
          <a:solidFill>
            <a:srgbClr val="B8A8FF"/>
          </a:solidFill>
          <a:ln/>
        </p:spPr>
      </p:sp>
      <p:sp>
        <p:nvSpPr>
          <p:cNvPr id="7" name="Text 5"/>
          <p:cNvSpPr/>
          <p:nvPr/>
        </p:nvSpPr>
        <p:spPr>
          <a:xfrm>
            <a:off x="8163074" y="2571750"/>
            <a:ext cx="2158038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🚀</a:t>
            </a:r>
            <a:endParaRPr lang="en-US" sz="11250" dirty="0"/>
          </a:p>
        </p:txBody>
      </p:sp>
      <p:sp>
        <p:nvSpPr>
          <p:cNvPr id="8" name="Text 6"/>
          <p:cNvSpPr/>
          <p:nvPr/>
        </p:nvSpPr>
        <p:spPr>
          <a:xfrm>
            <a:off x="6172200" y="4743450"/>
            <a:ext cx="6537960" cy="1247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00" b="1" spc="600" kern="0" dirty="0">
                <a:gradFill rotWithShape="1">
                  <a:gsLst>
                    <a:gs pos="0">
                      <a:srgbClr val="7DE8FF">
                        <a:alpha val="100000"/>
                      </a:srgbClr>
                    </a:gs>
                    <a:gs pos="50000">
                      <a:srgbClr val="B8A8FF">
                        <a:alpha val="100000"/>
                      </a:srgbClr>
                    </a:gs>
                    <a:gs pos="100000">
                      <a:srgbClr val="FF9AC0">
                        <a:alpha val="100000"/>
                      </a:srgbClr>
                    </a:gs>
                  </a:gsLst>
                  <a:lin ang="0" scaled="0"/>
                </a:gra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星際冒險學院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6572250" y="6219825"/>
            <a:ext cx="56578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B8A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國小學生冒險升級遊戲化學習系統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6759773" y="7134225"/>
            <a:ext cx="1487835" cy="581025"/>
          </a:xfrm>
          <a:prstGeom prst="roundRect">
            <a:avLst>
              <a:gd name="adj" fmla="val 50000"/>
            </a:avLst>
          </a:prstGeom>
          <a:solidFill>
            <a:srgbClr val="7DE8FF">
              <a:alpha val="12000"/>
            </a:srgbClr>
          </a:solidFill>
          <a:ln w="9525">
            <a:solidFill>
              <a:srgbClr val="7DE8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55048" y="7258050"/>
            <a:ext cx="9734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D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🧑‍🚀 學生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8400008" y="7134225"/>
            <a:ext cx="1487835" cy="581025"/>
          </a:xfrm>
          <a:prstGeom prst="roundRect">
            <a:avLst>
              <a:gd name="adj" fmla="val 50000"/>
            </a:avLst>
          </a:prstGeom>
          <a:solidFill>
            <a:srgbClr val="FFD45E">
              <a:alpha val="12000"/>
            </a:srgbClr>
          </a:solidFill>
          <a:ln w="9525">
            <a:solidFill>
              <a:srgbClr val="FFD45E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95283" y="7258050"/>
            <a:ext cx="9734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D4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👩‍🏫 老師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040243" y="7134225"/>
            <a:ext cx="1487835" cy="581025"/>
          </a:xfrm>
          <a:prstGeom prst="roundRect">
            <a:avLst>
              <a:gd name="adj" fmla="val 50000"/>
            </a:avLst>
          </a:prstGeom>
          <a:solidFill>
            <a:srgbClr val="FF9AC0">
              <a:alpha val="12000"/>
            </a:srgbClr>
          </a:solidFill>
          <a:ln w="9525">
            <a:solidFill>
              <a:srgbClr val="FF9AC0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5518" y="7258050"/>
            <a:ext cx="9734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9A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👪 家長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0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2653754"/>
            <a:ext cx="1676400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7D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為什麼是「冒險」？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524000" y="3996779"/>
            <a:ext cx="4851350" cy="3636466"/>
          </a:xfrm>
          <a:prstGeom prst="roundRect">
            <a:avLst>
              <a:gd name="adj" fmla="val 628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7DE8F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14525" y="4425404"/>
            <a:ext cx="447733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🎯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914525" y="5406479"/>
            <a:ext cx="447733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7D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練習變任務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914525" y="6016079"/>
            <a:ext cx="4192409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857"/>
              </a:lnSpc>
              <a:buNone/>
            </a:pPr>
            <a:r>
              <a:rPr lang="en-US" sz="1950" dirty="0">
                <a:solidFill>
                  <a:srgbClr val="C8C0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訂正錯題＝打倒 Boss，每日作業＝討伐小怪獸，完成就有金幣與經驗值。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718250" y="3996779"/>
            <a:ext cx="4851350" cy="3636466"/>
          </a:xfrm>
          <a:prstGeom prst="roundRect">
            <a:avLst>
              <a:gd name="adj" fmla="val 628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D45E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08775" y="4425404"/>
            <a:ext cx="447733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108775" y="5406479"/>
            <a:ext cx="447733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D4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天天想回來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7108775" y="6016079"/>
            <a:ext cx="4192409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857"/>
              </a:lnSpc>
              <a:buNone/>
            </a:pPr>
            <a:r>
              <a:rPr lang="en-US" sz="1950" dirty="0">
                <a:solidFill>
                  <a:srgbClr val="C8C0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七日簽到獎勵、寵物要餵食、每日通知清單——建立每天登入的習慣迴圈。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1912501" y="3996779"/>
            <a:ext cx="4851499" cy="3636466"/>
          </a:xfrm>
          <a:prstGeom prst="roundRect">
            <a:avLst>
              <a:gd name="adj" fmla="val 628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9AC0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03026" y="4425404"/>
            <a:ext cx="4477494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🤝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12303026" y="5406479"/>
            <a:ext cx="447749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9A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三方一起看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2303026" y="6016079"/>
            <a:ext cx="4192563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857"/>
              </a:lnSpc>
              <a:buNone/>
            </a:pPr>
            <a:r>
              <a:rPr lang="en-US" sz="1950" dirty="0">
                <a:solidFill>
                  <a:srgbClr val="C8C0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學生闖關、老師掌握全班進度、家長用學號查看成長報告。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0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705100"/>
            <a:ext cx="934593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00" kern="0" dirty="0">
                <a:solidFill>
                  <a:srgbClr val="8A80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學生端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333500" y="3429000"/>
            <a:ext cx="934593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7D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冒險大廳：每天的起點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33500" y="4581525"/>
            <a:ext cx="52089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70"/>
              </a:lnSpc>
              <a:buNone/>
            </a:pPr>
            <a:r>
              <a:rPr lang="en-US" sz="2550" dirty="0">
                <a:solidFill>
                  <a:srgbClr val="E0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📅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949648" y="4581525"/>
            <a:ext cx="62077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b="1" dirty="0">
                <a:solidFill>
                  <a:srgbClr val="7DE8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七日簽到</a:t>
            </a:r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E0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——連續登入獎勵逐日加碼，斷簽重來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33500" y="5314950"/>
            <a:ext cx="52089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70"/>
              </a:lnSpc>
              <a:buNone/>
            </a:pPr>
            <a:r>
              <a:rPr lang="en-US" sz="2550" dirty="0">
                <a:solidFill>
                  <a:srgbClr val="E0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🔔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949648" y="5314950"/>
            <a:ext cx="811655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b="1" dirty="0">
                <a:solidFill>
                  <a:srgbClr val="FFD4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每日通知 </a:t>
            </a:r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E0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——今日日期、老師廣播、進行中 Boss 懸賞、今日任務一次看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33500" y="6362700"/>
            <a:ext cx="52089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70"/>
              </a:lnSpc>
              <a:buNone/>
            </a:pPr>
            <a:r>
              <a:rPr lang="en-US" sz="2550" dirty="0">
                <a:solidFill>
                  <a:srgbClr val="E0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📸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949648" y="6362700"/>
            <a:ext cx="708786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b="1" dirty="0">
                <a:solidFill>
                  <a:srgbClr val="FF9A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拍照回報</a:t>
            </a:r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E0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——完成任務先拍照存證，縮圖留在任務卡上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33500" y="7096125"/>
            <a:ext cx="52089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70"/>
              </a:lnSpc>
              <a:buNone/>
            </a:pPr>
            <a:r>
              <a:rPr lang="en-US" sz="2550" dirty="0">
                <a:solidFill>
                  <a:srgbClr val="E0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🪙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949648" y="7096125"/>
            <a:ext cx="65011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b="1" dirty="0">
                <a:solidFill>
                  <a:srgbClr val="B8A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金幣＋經驗值</a:t>
            </a:r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E0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——升級解鎖頭銜，金幣拿去養寵物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687050" y="2833688"/>
            <a:ext cx="6267450" cy="4619625"/>
          </a:xfrm>
          <a:prstGeom prst="roundRect">
            <a:avLst>
              <a:gd name="adj" fmla="val 6598"/>
            </a:avLst>
          </a:prstGeom>
          <a:gradFill rotWithShape="1">
            <a:gsLst>
              <a:gs pos="0">
                <a:srgbClr val="2A2060">
                  <a:alpha val="100000"/>
                </a:srgbClr>
              </a:gs>
              <a:gs pos="100000">
                <a:srgbClr val="17123C">
                  <a:alpha val="100000"/>
                </a:srgbClr>
              </a:gs>
            </a:gsLst>
            <a:path path="circle">
              <a:fillToRect l="50000" t="30000" r="50000" b="70000"/>
            </a:path>
          </a:gradFill>
          <a:ln w="9525">
            <a:solidFill>
              <a:srgbClr val="7DE8FF">
                <a:alpha val="30000"/>
              </a:srgbClr>
            </a:solidFill>
            <a:prstDash val="solid"/>
          </a:ln>
          <a:effectLst>
            <a:outerShdw sx="100000" sy="100000" kx="0" ky="0" algn="bl" rotWithShape="0" blurRad="571500" dist="50800" dir="16200000">
              <a:srgbClr val="7DE8FF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153775" y="3300413"/>
            <a:ext cx="58674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D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今日任務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153775" y="3862387"/>
            <a:ext cx="5334000" cy="714375"/>
          </a:xfrm>
          <a:prstGeom prst="roundRect">
            <a:avLst>
              <a:gd name="adj" fmla="val 21333"/>
            </a:avLst>
          </a:prstGeom>
          <a:solidFill>
            <a:srgbClr val="5AC878">
              <a:alpha val="12000"/>
            </a:srgbClr>
          </a:solidFill>
          <a:ln w="9525">
            <a:solidFill>
              <a:srgbClr val="5AC878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91900" y="4062412"/>
            <a:ext cx="199678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📖 完成國語訂正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5435262" y="4067175"/>
            <a:ext cx="89058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DE8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+10 🪙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153775" y="4805363"/>
            <a:ext cx="5334000" cy="714375"/>
          </a:xfrm>
          <a:prstGeom prst="roundRect">
            <a:avLst>
              <a:gd name="adj" fmla="val 21333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91900" y="5005388"/>
            <a:ext cx="22587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🧮 數學練習卷一頁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5435262" y="5010150"/>
            <a:ext cx="89058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4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+15 🪙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153775" y="5748338"/>
            <a:ext cx="5334000" cy="714375"/>
          </a:xfrm>
          <a:prstGeom prst="roundRect">
            <a:avLst>
              <a:gd name="adj" fmla="val 21333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91900" y="5948363"/>
            <a:ext cx="22587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🌪️ 幫忙做一件家事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5435262" y="5953125"/>
            <a:ext cx="89058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4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+10 🪙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887075" y="6691313"/>
            <a:ext cx="5867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dirty="0">
                <a:solidFill>
                  <a:srgbClr val="8A80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📸 拍照後即可領取獎勵</a:t>
            </a:r>
            <a:endParaRPr lang="en-US" sz="17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41A54">
                  <a:alpha val="100000"/>
                </a:srgbClr>
              </a:gs>
              <a:gs pos="60000">
                <a:srgbClr val="141034">
                  <a:alpha val="100000"/>
                </a:srgbClr>
              </a:gs>
            </a:gsLst>
            <a:path path="circle">
              <a:fillToRect l="70000" t="80000" r="30000" b="2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524000" y="2390775"/>
            <a:ext cx="16764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00" kern="0" dirty="0">
                <a:solidFill>
                  <a:srgbClr val="8A80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學生端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524000" y="2886075"/>
            <a:ext cx="1676400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9A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寵物夥伴：捨不得不回來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775621" y="4305300"/>
            <a:ext cx="1582594" cy="1438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🥚</a:t>
            </a:r>
            <a:endParaRPr lang="en-US" sz="8250" dirty="0"/>
          </a:p>
        </p:txBody>
      </p:sp>
      <p:sp>
        <p:nvSpPr>
          <p:cNvPr id="6" name="Text 4"/>
          <p:cNvSpPr/>
          <p:nvPr/>
        </p:nvSpPr>
        <p:spPr>
          <a:xfrm>
            <a:off x="4094857" y="5838825"/>
            <a:ext cx="8763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8C0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神秘蛋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307979" y="6324600"/>
            <a:ext cx="4502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A80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Lv.1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5595342" y="5186363"/>
            <a:ext cx="4953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5A5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➜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6395442" y="4305300"/>
            <a:ext cx="1582594" cy="1438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🐣</a:t>
            </a:r>
            <a:endParaRPr lang="en-US" sz="8250" dirty="0"/>
          </a:p>
        </p:txBody>
      </p:sp>
      <p:sp>
        <p:nvSpPr>
          <p:cNvPr id="10" name="Text 8"/>
          <p:cNvSpPr/>
          <p:nvPr/>
        </p:nvSpPr>
        <p:spPr>
          <a:xfrm>
            <a:off x="6714679" y="5838825"/>
            <a:ext cx="8763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8C0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寶寶期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927800" y="6324600"/>
            <a:ext cx="4502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A80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Lv.5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8215164" y="5186363"/>
            <a:ext cx="4953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5A5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➜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9015264" y="4305300"/>
            <a:ext cx="1582594" cy="1438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🐲</a:t>
            </a:r>
            <a:endParaRPr lang="en-US" sz="8250" dirty="0"/>
          </a:p>
        </p:txBody>
      </p:sp>
      <p:sp>
        <p:nvSpPr>
          <p:cNvPr id="14" name="Text 12"/>
          <p:cNvSpPr/>
          <p:nvPr/>
        </p:nvSpPr>
        <p:spPr>
          <a:xfrm>
            <a:off x="9201150" y="5838825"/>
            <a:ext cx="1143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8C0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超級型態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484072" y="6324600"/>
            <a:ext cx="5771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A80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Lv.15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10834985" y="5186363"/>
            <a:ext cx="4953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5A5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➜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1635085" y="4305300"/>
            <a:ext cx="3165024" cy="1438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🌟🐉</a:t>
            </a:r>
            <a:endParaRPr lang="en-US" sz="8250" dirty="0"/>
          </a:p>
        </p:txBody>
      </p:sp>
      <p:sp>
        <p:nvSpPr>
          <p:cNvPr id="18" name="Text 16"/>
          <p:cNvSpPr/>
          <p:nvPr/>
        </p:nvSpPr>
        <p:spPr>
          <a:xfrm>
            <a:off x="12540258" y="5838825"/>
            <a:ext cx="1143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D4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傳說型態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823180" y="6324600"/>
            <a:ext cx="5771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A80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Lv.30</a:t>
            </a:r>
            <a:endParaRPr lang="en-US" sz="1725" dirty="0"/>
          </a:p>
        </p:txBody>
      </p:sp>
      <p:sp>
        <p:nvSpPr>
          <p:cNvPr id="20" name="Shape 18"/>
          <p:cNvSpPr/>
          <p:nvPr/>
        </p:nvSpPr>
        <p:spPr>
          <a:xfrm>
            <a:off x="3473648" y="7229475"/>
            <a:ext cx="3513088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9AC0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64173" y="7391400"/>
            <a:ext cx="283743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🍖 餵食＋摸摸互動動畫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7291536" y="7229475"/>
            <a:ext cx="3962102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9AC0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2061" y="7391400"/>
            <a:ext cx="32999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✊✌️🖐 猜拳小遊戲賺金幣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11558439" y="7229475"/>
            <a:ext cx="325591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9AC0">
                <a:alpha val="3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948964" y="7391400"/>
            <a:ext cx="25725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🪙 金幣買飼料與道具</a:t>
            </a:r>
            <a:endParaRPr lang="en-US" sz="20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0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2776538"/>
            <a:ext cx="5715000" cy="1400175"/>
          </a:xfrm>
          <a:prstGeom prst="roundRect">
            <a:avLst>
              <a:gd name="adj" fmla="val 16327"/>
            </a:avLst>
          </a:prstGeom>
          <a:solidFill>
            <a:srgbClr val="7DE8FF">
              <a:alpha val="8000"/>
            </a:srgbClr>
          </a:solidFill>
          <a:ln w="9525">
            <a:solidFill>
              <a:srgbClr val="7DE8FF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85925" y="3071813"/>
            <a:ext cx="913209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🤖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770584" y="3133725"/>
            <a:ext cx="209779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數學機器人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770584" y="3514725"/>
            <a:ext cx="20977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數學 · 懸賞 100 🪙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33500" y="4443413"/>
            <a:ext cx="5715000" cy="1400175"/>
          </a:xfrm>
          <a:prstGeom prst="roundRect">
            <a:avLst>
              <a:gd name="adj" fmla="val 16327"/>
            </a:avLst>
          </a:prstGeom>
          <a:solidFill>
            <a:srgbClr val="FFD45E">
              <a:alpha val="8000"/>
            </a:srgbClr>
          </a:solidFill>
          <a:ln w="9525">
            <a:solidFill>
              <a:srgbClr val="FFD45E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85925" y="4738688"/>
            <a:ext cx="913209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🐙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770584" y="4800600"/>
            <a:ext cx="209779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錯字大章魚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770584" y="5181600"/>
            <a:ext cx="20977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D4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國語 · 懸賞 120 🪙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33500" y="6110288"/>
            <a:ext cx="5715000" cy="1400175"/>
          </a:xfrm>
          <a:prstGeom prst="roundRect">
            <a:avLst>
              <a:gd name="adj" fmla="val 16327"/>
            </a:avLst>
          </a:prstGeom>
          <a:solidFill>
            <a:srgbClr val="FF9AC0">
              <a:alpha val="8000"/>
            </a:srgbClr>
          </a:solidFill>
          <a:ln w="9525">
            <a:solidFill>
              <a:srgbClr val="FF9AC0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85925" y="6405563"/>
            <a:ext cx="913209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👾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770584" y="6467475"/>
            <a:ext cx="264278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單字幽靈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2770584" y="6848475"/>
            <a:ext cx="26427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9A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英語 · 等待老師出題中…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905750" y="2862263"/>
            <a:ext cx="99536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00" kern="0" dirty="0">
                <a:solidFill>
                  <a:srgbClr val="8A80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學生端 × 老師端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905750" y="3586163"/>
            <a:ext cx="9953625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D4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Boss 戰：訂正的儀式感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7905750" y="4738688"/>
            <a:ext cx="52089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70"/>
              </a:lnSpc>
              <a:buNone/>
            </a:pPr>
            <a:r>
              <a:rPr lang="en-US" sz="2550" dirty="0">
                <a:solidFill>
                  <a:srgbClr val="E0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🗺️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8521898" y="4738688"/>
            <a:ext cx="756776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b="1" dirty="0">
                <a:solidFill>
                  <a:srgbClr val="7D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 Boss 星圖</a:t>
            </a:r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E0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——每隻 Boss 對應一個科目，由老師建立與命名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905750" y="5472113"/>
            <a:ext cx="52089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70"/>
              </a:lnSpc>
              <a:buNone/>
            </a:pPr>
            <a:r>
              <a:rPr lang="en-US" sz="2550" dirty="0">
                <a:solidFill>
                  <a:srgbClr val="E0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⚔️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8521898" y="5472113"/>
            <a:ext cx="6267996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b="1" dirty="0">
                <a:solidFill>
                  <a:srgbClr val="FFD4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答題即攻擊</a:t>
            </a:r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E0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——答對扣 Boss 血量，答錯進入補救輪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905750" y="6205538"/>
            <a:ext cx="52089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70"/>
              </a:lnSpc>
              <a:buNone/>
            </a:pPr>
            <a:r>
              <a:rPr lang="en-US" sz="2550" dirty="0">
                <a:solidFill>
                  <a:srgbClr val="E0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🔁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8521898" y="6205538"/>
            <a:ext cx="636211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b="1" dirty="0">
                <a:solidFill>
                  <a:srgbClr val="FF9A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重打到滿分</a:t>
            </a:r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E0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——每一輪成績都保留，看得見進步軌跡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905750" y="6938963"/>
            <a:ext cx="52089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70"/>
              </a:lnSpc>
              <a:buNone/>
            </a:pPr>
            <a:r>
              <a:rPr lang="en-US" sz="2550" dirty="0">
                <a:solidFill>
                  <a:srgbClr val="E0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💰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8521898" y="6938963"/>
            <a:ext cx="571859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b="1" dirty="0">
                <a:solidFill>
                  <a:srgbClr val="7DE8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懸賞金</a:t>
            </a:r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E0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——擊倒 Boss 領取金幣，回饋寵物養成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0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2171700"/>
            <a:ext cx="16764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00" kern="0" dirty="0">
                <a:solidFill>
                  <a:srgbClr val="8A80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老師端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524000" y="2667000"/>
            <a:ext cx="1676400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D4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指揮中心：一目瞭然的全班狀況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524000" y="4010025"/>
            <a:ext cx="7467600" cy="1900238"/>
          </a:xfrm>
          <a:prstGeom prst="roundRect">
            <a:avLst>
              <a:gd name="adj" fmla="val 1203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D45E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14525" y="4362450"/>
            <a:ext cx="75634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🔐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2823270" y="4362450"/>
            <a:ext cx="635558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D4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帳號登入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2823270" y="4819650"/>
            <a:ext cx="5951140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24"/>
              </a:lnSpc>
              <a:buNone/>
            </a:pPr>
            <a:r>
              <a:rPr lang="en-US" sz="1875" dirty="0">
                <a:solidFill>
                  <a:srgbClr val="C8C0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每位老師用自己的 Google Email 建立帳號，各自管理班級與題庫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96400" y="4010025"/>
            <a:ext cx="7467600" cy="1900238"/>
          </a:xfrm>
          <a:prstGeom prst="roundRect">
            <a:avLst>
              <a:gd name="adj" fmla="val 1203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D45E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86925" y="4362450"/>
            <a:ext cx="75634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👽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10595670" y="4362450"/>
            <a:ext cx="635558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D4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Boss 與題庫管理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0595670" y="4819650"/>
            <a:ext cx="5951140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24"/>
              </a:lnSpc>
              <a:buNone/>
            </a:pPr>
            <a:r>
              <a:rPr lang="en-US" sz="1875" dirty="0">
                <a:solidFill>
                  <a:srgbClr val="C8C0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依科目新增／改名／刪除 Boss，題目匯入指定題庫，AI 自動產生補救題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524000" y="6215063"/>
            <a:ext cx="7467600" cy="1900238"/>
          </a:xfrm>
          <a:prstGeom prst="roundRect">
            <a:avLst>
              <a:gd name="adj" fmla="val 1203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D45E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14525" y="6567488"/>
            <a:ext cx="75634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📊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2823270" y="6567488"/>
            <a:ext cx="635558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D4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週任務追蹤表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2823270" y="7024688"/>
            <a:ext cx="5951140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24"/>
              </a:lnSpc>
              <a:buNone/>
            </a:pPr>
            <a:r>
              <a:rPr lang="en-US" sz="1875" dirty="0">
                <a:solidFill>
                  <a:srgbClr val="C8C0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週一至週五每位學生完成狀況色塊化：綠＝全完成、橘＝部分、紅＝未做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9296400" y="6215063"/>
            <a:ext cx="7467600" cy="1900238"/>
          </a:xfrm>
          <a:prstGeom prst="roundRect">
            <a:avLst>
              <a:gd name="adj" fmla="val 1203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D45E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86925" y="6567488"/>
            <a:ext cx="75634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📋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10595670" y="6567488"/>
            <a:ext cx="635558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D4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個別學生詳情＋CSV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0595670" y="7024688"/>
            <a:ext cx="5951140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24"/>
              </a:lnSpc>
              <a:buNone/>
            </a:pPr>
            <a:r>
              <a:rPr lang="en-US" sz="1875" dirty="0">
                <a:solidFill>
                  <a:srgbClr val="C8C0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每位學生的輪次成績、原始錯題與輔導筆記，一鍵匯出 CSV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0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228975"/>
            <a:ext cx="892683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00" kern="0" dirty="0">
                <a:solidFill>
                  <a:srgbClr val="8A80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家長端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333500" y="3952875"/>
            <a:ext cx="892683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9A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成長報告：學號一查就有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33500" y="5105400"/>
            <a:ext cx="52089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70"/>
              </a:lnSpc>
              <a:buNone/>
            </a:pPr>
            <a:r>
              <a:rPr lang="en-US" sz="2550" dirty="0">
                <a:solidFill>
                  <a:srgbClr val="E0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🔎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949648" y="5105400"/>
            <a:ext cx="691152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b="1" dirty="0">
                <a:solidFill>
                  <a:srgbClr val="7D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免註冊</a:t>
            </a:r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E0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——選班級、輸入學號，唯讀查看，不怕改到資料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33500" y="5838825"/>
            <a:ext cx="52089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70"/>
              </a:lnSpc>
              <a:buNone/>
            </a:pPr>
            <a:r>
              <a:rPr lang="en-US" sz="2550" dirty="0">
                <a:solidFill>
                  <a:srgbClr val="E0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📅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949648" y="5838825"/>
            <a:ext cx="691152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b="1" dirty="0">
                <a:solidFill>
                  <a:srgbClr val="7DE8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本週任務色塊</a:t>
            </a:r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E0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——週一至五完成狀況，和老師看到的一致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33500" y="6572250"/>
            <a:ext cx="52089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70"/>
              </a:lnSpc>
              <a:buNone/>
            </a:pPr>
            <a:r>
              <a:rPr lang="en-US" sz="2550" dirty="0">
                <a:solidFill>
                  <a:srgbClr val="E0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📈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949648" y="6572250"/>
            <a:ext cx="654269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b="1" dirty="0">
                <a:solidFill>
                  <a:srgbClr val="FFD4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歷輪成績趨勢</a:t>
            </a:r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E0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——每輪 Boss 戰成績長條圖＋進步摘要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0306050" y="2838450"/>
            <a:ext cx="6648450" cy="4610100"/>
          </a:xfrm>
          <a:prstGeom prst="roundRect">
            <a:avLst>
              <a:gd name="adj" fmla="val 6612"/>
            </a:avLst>
          </a:prstGeom>
          <a:gradFill rotWithShape="1">
            <a:gsLst>
              <a:gs pos="0">
                <a:srgbClr val="2A2060">
                  <a:alpha val="100000"/>
                </a:srgbClr>
              </a:gs>
              <a:gs pos="100000">
                <a:srgbClr val="17123C">
                  <a:alpha val="100000"/>
                </a:srgbClr>
              </a:gs>
            </a:gsLst>
            <a:path path="circle">
              <a:fillToRect l="50000" t="20000" r="50000" b="80000"/>
            </a:path>
          </a:gradFill>
          <a:ln w="9525">
            <a:solidFill>
              <a:srgbClr val="FF9AC0">
                <a:alpha val="35000"/>
              </a:srgbClr>
            </a:solidFill>
            <a:prstDash val="solid"/>
          </a:ln>
          <a:effectLst>
            <a:outerShdw sx="100000" sy="100000" kx="0" ky="0" algn="bl" rotWithShape="0" blurRad="571500" dist="50800" dir="16200000">
              <a:srgbClr val="FF9AC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772775" y="3305175"/>
            <a:ext cx="62865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9A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📈 Boss 戰歷次成績趨勢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772775" y="3905250"/>
            <a:ext cx="5715000" cy="2495550"/>
          </a:xfrm>
          <a:prstGeom prst="roundRect">
            <a:avLst>
              <a:gd name="adj" fmla="val 7634"/>
            </a:avLst>
          </a:prstGeom>
          <a:solidFill>
            <a:srgbClr val="000000">
              <a:alpha val="2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684943" y="4962525"/>
            <a:ext cx="36001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9A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1560076" y="5353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95250" y="0"/>
                </a:moveTo>
                <a:lnTo>
                  <a:pt x="438150" y="0"/>
                </a:lnTo>
                <a:arcTo hR="95250" wR="95250" stAng="16200000" swAng="5400000"/>
                <a:lnTo>
                  <a:pt x="533400" y="495300"/>
                </a:lnTo>
                <a:arcTo hR="38100" wR="38100" stAng="0" swAng="5400000"/>
                <a:lnTo>
                  <a:pt x="38100" y="533400"/>
                </a:lnTo>
                <a:arcTo hR="38100" wR="38100" stAng="5400000" swAng="5400000"/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gradFill rotWithShape="1">
            <a:gsLst>
              <a:gs pos="0">
                <a:srgbClr val="FF9AC0">
                  <a:alpha val="100000"/>
                </a:srgbClr>
              </a:gs>
              <a:gs pos="100000">
                <a:srgbClr val="C04A7A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15" name="Text 13"/>
          <p:cNvSpPr/>
          <p:nvPr/>
        </p:nvSpPr>
        <p:spPr>
          <a:xfrm>
            <a:off x="11518850" y="5962650"/>
            <a:ext cx="69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8A80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輪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13488293" y="4562475"/>
            <a:ext cx="36001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D4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70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3363575" y="4953000"/>
            <a:ext cx="533400" cy="933450"/>
          </a:xfrm>
          <a:custGeom>
            <a:avLst/>
            <a:gdLst/>
            <a:ahLst/>
            <a:cxnLst/>
            <a:rect l="l" t="t" r="r" b="b"/>
            <a:pathLst>
              <a:path w="533400" h="933450">
                <a:moveTo>
                  <a:pt x="95250" y="0"/>
                </a:moveTo>
                <a:lnTo>
                  <a:pt x="438150" y="0"/>
                </a:lnTo>
                <a:arcTo hR="95250" wR="95250" stAng="16200000" swAng="5400000"/>
                <a:lnTo>
                  <a:pt x="533400" y="895350"/>
                </a:lnTo>
                <a:arcTo hR="38100" wR="38100" stAng="0" swAng="5400000"/>
                <a:lnTo>
                  <a:pt x="38100" y="933450"/>
                </a:lnTo>
                <a:arcTo hR="38100" wR="38100" stAng="5400000" swAng="5400000"/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gradFill rotWithShape="1">
            <a:gsLst>
              <a:gs pos="0">
                <a:srgbClr val="FFD45E">
                  <a:alpha val="100000"/>
                </a:srgbClr>
              </a:gs>
              <a:gs pos="100000">
                <a:srgbClr val="D89A2B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18" name="Text 16"/>
          <p:cNvSpPr/>
          <p:nvPr/>
        </p:nvSpPr>
        <p:spPr>
          <a:xfrm>
            <a:off x="13322201" y="5962650"/>
            <a:ext cx="69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8A80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輪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15220801" y="4162425"/>
            <a:ext cx="50184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7DE8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5166925" y="4552950"/>
            <a:ext cx="533400" cy="1333500"/>
          </a:xfrm>
          <a:custGeom>
            <a:avLst/>
            <a:gdLst/>
            <a:ahLst/>
            <a:cxnLst/>
            <a:rect l="l" t="t" r="r" b="b"/>
            <a:pathLst>
              <a:path w="533400" h="1333500">
                <a:moveTo>
                  <a:pt x="95250" y="0"/>
                </a:moveTo>
                <a:lnTo>
                  <a:pt x="438150" y="0"/>
                </a:lnTo>
                <a:arcTo hR="95250" wR="95250" stAng="16200000" swAng="5400000"/>
                <a:lnTo>
                  <a:pt x="533400" y="1295400"/>
                </a:lnTo>
                <a:arcTo hR="38100" wR="38100" stAng="0" swAng="5400000"/>
                <a:lnTo>
                  <a:pt x="38100" y="1333500"/>
                </a:lnTo>
                <a:arcTo hR="38100" wR="38100" stAng="5400000" swAng="5400000"/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gradFill rotWithShape="1">
            <a:gsLst>
              <a:gs pos="0">
                <a:srgbClr val="7DE8A0">
                  <a:alpha val="100000"/>
                </a:srgbClr>
              </a:gs>
              <a:gs pos="100000">
                <a:srgbClr val="3DA868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21" name="Text 19"/>
          <p:cNvSpPr/>
          <p:nvPr/>
        </p:nvSpPr>
        <p:spPr>
          <a:xfrm>
            <a:off x="15125700" y="5962650"/>
            <a:ext cx="69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8A80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 輪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10487025" y="6667500"/>
            <a:ext cx="62865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7DE8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進步 60 分，越戰越勇！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A2060">
                  <a:alpha val="100000"/>
                </a:srgbClr>
              </a:gs>
              <a:gs pos="55000">
                <a:srgbClr val="141034">
                  <a:alpha val="100000"/>
                </a:srgbClr>
              </a:gs>
              <a:gs pos="100000">
                <a:srgbClr val="0E0A26">
                  <a:alpha val="100000"/>
                </a:srgbClr>
              </a:gs>
            </a:gsLst>
            <a:path path="circle">
              <a:fillToRect l="50000" t="100000" r="5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490049" y="2295525"/>
            <a:ext cx="1438692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🌟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7429500" y="4019550"/>
            <a:ext cx="3771900" cy="942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7D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下一步航程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624834" y="5381625"/>
            <a:ext cx="29036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7DE8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010448" y="5381625"/>
            <a:ext cx="75438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E0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可互動原型完成：學生・老師・家長三端流程皆可試玩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624834" y="6019800"/>
            <a:ext cx="3619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FFD4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082034" y="6019800"/>
            <a:ext cx="943924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E0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接上後端資料庫與 Google OAuth，讓每位老師真正擁有自己的班級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4624834" y="6657975"/>
            <a:ext cx="3619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FFD4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082034" y="6657975"/>
            <a:ext cx="62865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E0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小規模班級試用，收集學生與家長回饋再迭代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499771" y="7658100"/>
            <a:ext cx="581714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80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星際冒險學院 · 讓每一次訂正，都是一場冒險 🚀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2026-07-31T16:09:53Z</dcterms:created>
  <dcterms:modified xsi:type="dcterms:W3CDTF">2026-07-31T16:09:53Z</dcterms:modified>
</cp:coreProperties>
</file>